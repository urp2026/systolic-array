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77" r:id="rId3"/>
    <p:sldId id="256" r:id="rId4"/>
    <p:sldId id="257" r:id="rId5"/>
    <p:sldId id="262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58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</p:sldIdLst>
  <p:sldSz cx="24384000" cy="13716000"/>
  <p:notesSz cx="6858000" cy="9144000"/>
  <p:embeddedFontLst>
    <p:embeddedFont>
      <p:font typeface="Abadi" panose="020B0604020104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8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1522" y="4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9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1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8.png"/><Relationship Id="rId5" Type="http://schemas.openxmlformats.org/officeDocument/2006/relationships/image" Target="../media/image2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4.png"/><Relationship Id="rId9" Type="http://schemas.openxmlformats.org/officeDocument/2006/relationships/image" Target="../media/image2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2.png"/><Relationship Id="rId7" Type="http://schemas.openxmlformats.org/officeDocument/2006/relationships/image" Target="../media/image5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.png"/><Relationship Id="rId7" Type="http://schemas.openxmlformats.org/officeDocument/2006/relationships/image" Target="../media/image6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.png"/><Relationship Id="rId7" Type="http://schemas.openxmlformats.org/officeDocument/2006/relationships/image" Target="../media/image6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3.png"/><Relationship Id="rId7" Type="http://schemas.openxmlformats.org/officeDocument/2006/relationships/image" Target="../media/image8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3.png"/><Relationship Id="rId7" Type="http://schemas.openxmlformats.org/officeDocument/2006/relationships/image" Target="../media/image8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9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1.png"/><Relationship Id="rId5" Type="http://schemas.openxmlformats.org/officeDocument/2006/relationships/image" Target="../media/image10.png"/><Relationship Id="rId10" Type="http://schemas.openxmlformats.org/officeDocument/2006/relationships/image" Target="../media/image90.png"/><Relationship Id="rId4" Type="http://schemas.openxmlformats.org/officeDocument/2006/relationships/image" Target="../media/image9.png"/><Relationship Id="rId9" Type="http://schemas.openxmlformats.org/officeDocument/2006/relationships/image" Target="../media/image89.png"/><Relationship Id="rId1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02.png"/><Relationship Id="rId3" Type="http://schemas.openxmlformats.org/officeDocument/2006/relationships/image" Target="../media/image22.png"/><Relationship Id="rId7" Type="http://schemas.openxmlformats.org/officeDocument/2006/relationships/image" Target="../media/image97.png"/><Relationship Id="rId12" Type="http://schemas.openxmlformats.org/officeDocument/2006/relationships/image" Target="../media/image101.png"/><Relationship Id="rId17" Type="http://schemas.openxmlformats.org/officeDocument/2006/relationships/image" Target="../media/image27.png"/><Relationship Id="rId2" Type="http://schemas.openxmlformats.org/officeDocument/2006/relationships/image" Target="../media/image19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0.png"/><Relationship Id="rId5" Type="http://schemas.openxmlformats.org/officeDocument/2006/relationships/image" Target="../media/image95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22.png"/><Relationship Id="rId7" Type="http://schemas.openxmlformats.org/officeDocument/2006/relationships/image" Target="../media/image10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12.png"/><Relationship Id="rId5" Type="http://schemas.openxmlformats.org/officeDocument/2006/relationships/image" Target="../media/image107.png"/><Relationship Id="rId10" Type="http://schemas.openxmlformats.org/officeDocument/2006/relationships/image" Target="../media/image111.png"/><Relationship Id="rId4" Type="http://schemas.openxmlformats.org/officeDocument/2006/relationships/image" Target="../media/image106.png"/><Relationship Id="rId9" Type="http://schemas.openxmlformats.org/officeDocument/2006/relationships/image" Target="../media/image1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22.png"/><Relationship Id="rId7" Type="http://schemas.openxmlformats.org/officeDocument/2006/relationships/image" Target="../media/image1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5" Type="http://schemas.openxmlformats.org/officeDocument/2006/relationships/image" Target="../media/image3.png"/><Relationship Id="rId4" Type="http://schemas.openxmlformats.org/officeDocument/2006/relationships/image" Target="../media/image113.png"/><Relationship Id="rId9" Type="http://schemas.openxmlformats.org/officeDocument/2006/relationships/image" Target="../media/image1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22.png"/><Relationship Id="rId7" Type="http://schemas.openxmlformats.org/officeDocument/2006/relationships/image" Target="../media/image1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21.png"/><Relationship Id="rId5" Type="http://schemas.openxmlformats.org/officeDocument/2006/relationships/image" Target="../media/image10.png"/><Relationship Id="rId10" Type="http://schemas.openxmlformats.org/officeDocument/2006/relationships/image" Target="../media/image120.png"/><Relationship Id="rId4" Type="http://schemas.openxmlformats.org/officeDocument/2006/relationships/image" Target="../media/image9.png"/><Relationship Id="rId9" Type="http://schemas.openxmlformats.org/officeDocument/2006/relationships/image" Target="../media/image119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8674100"/>
            <a:ext cx="15760700" cy="88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200" y="8890000"/>
            <a:ext cx="15354300" cy="46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00" y="4102100"/>
            <a:ext cx="17602200" cy="4165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5800" y="990600"/>
            <a:ext cx="17932400" cy="431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800" y="12001500"/>
            <a:ext cx="17932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0" y="4508500"/>
            <a:ext cx="5334000" cy="567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0172700"/>
            <a:ext cx="50292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0" y="7721600"/>
            <a:ext cx="12750800" cy="246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7264400"/>
            <a:ext cx="2921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8331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93980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400" y="6083300"/>
            <a:ext cx="128016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1500" y="9144000"/>
            <a:ext cx="119634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1500" y="8064500"/>
            <a:ext cx="11963400" cy="50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1500" y="6997700"/>
            <a:ext cx="11963400" cy="50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4500" y="4711700"/>
            <a:ext cx="12014200" cy="1143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86100" y="5994400"/>
            <a:ext cx="4660900" cy="3276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8700" y="5334000"/>
            <a:ext cx="3708400" cy="43180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828102-9EAC-1EDE-37B6-A00EEC6D0B4F}"/>
              </a:ext>
            </a:extLst>
          </p:cNvPr>
          <p:cNvSpPr/>
          <p:nvPr/>
        </p:nvSpPr>
        <p:spPr>
          <a:xfrm>
            <a:off x="10764520" y="7066280"/>
            <a:ext cx="23876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500" dirty="0">
                <a:solidFill>
                  <a:schemeClr val="tx1"/>
                </a:solidFill>
              </a:rPr>
              <a:t>2</a:t>
            </a:r>
            <a:endParaRPr lang="ko-KR" altLang="en-US" sz="2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500" y="4483100"/>
            <a:ext cx="10033000" cy="7696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4483100"/>
            <a:ext cx="10350500" cy="762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9500" y="10248900"/>
            <a:ext cx="9893300" cy="1549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8900" y="4978400"/>
            <a:ext cx="6261100" cy="63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300" y="4978400"/>
            <a:ext cx="4483100" cy="635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6500" y="2082800"/>
            <a:ext cx="15557500" cy="1143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6300" y="2159000"/>
            <a:ext cx="927100" cy="901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66900" y="3568700"/>
            <a:ext cx="4699000" cy="685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3733800"/>
            <a:ext cx="6362700" cy="533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3500" y="5867400"/>
            <a:ext cx="8407400" cy="4406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6300" y="10502900"/>
            <a:ext cx="9893300" cy="1028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66700" y="6019800"/>
            <a:ext cx="911860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3492500"/>
            <a:ext cx="12331700" cy="9232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3492500"/>
            <a:ext cx="8013700" cy="923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9100" y="3810000"/>
            <a:ext cx="67945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6300" y="3810000"/>
            <a:ext cx="7150100" cy="63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6500" y="2082800"/>
            <a:ext cx="15557500" cy="1143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7100" y="2159000"/>
            <a:ext cx="825500" cy="90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700" y="10972800"/>
            <a:ext cx="9893300" cy="1028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1300" y="4826000"/>
            <a:ext cx="6121400" cy="5956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0" y="5626100"/>
            <a:ext cx="9410700" cy="6718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8000" y="4559300"/>
            <a:ext cx="6858000" cy="952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26000" y="4343400"/>
            <a:ext cx="5486400" cy="5486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907000" y="4876800"/>
            <a:ext cx="4737100" cy="482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907000" y="5549900"/>
            <a:ext cx="4775200" cy="50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907000" y="5791200"/>
            <a:ext cx="1181100" cy="482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907000" y="6273800"/>
            <a:ext cx="46355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700" y="4216400"/>
            <a:ext cx="9652000" cy="783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0" y="4216400"/>
            <a:ext cx="9652000" cy="783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7300" y="12026900"/>
            <a:ext cx="9271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12026900"/>
            <a:ext cx="92710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1900" y="7327900"/>
            <a:ext cx="1587500" cy="158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620500" y="7620000"/>
            <a:ext cx="1143000" cy="1016000"/>
          </a:xfrm>
          <a:prstGeom prst="rect">
            <a:avLst/>
          </a:prstGeom>
        </p:spPr>
        <p:txBody>
          <a:bodyPr lIns="0" tIns="7212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679" b="0" i="0" u="none" strike="noStrike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74700" y="9055100"/>
            <a:ext cx="8077200" cy="13208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고정 입력과 미사용 출력 때문에 회로가 제거되는 문제는 LFSR로 입력을 계속 변경하고, 계산 결과를 LED에 연결해 행렬곱 로직이 유지되도록 해결하였다.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22300" y="7188200"/>
            <a:ext cx="8039100" cy="13208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입출력 핀 수가 지나치게 많아지는 문제는 래퍼를 사용해 내부에서 A, B 입력을 생성하고, 외부 출력은 LED 8비트만 사용하도록 해결하였다.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33700" y="5207000"/>
            <a:ext cx="3759200" cy="698500"/>
          </a:xfrm>
          <a:prstGeom prst="rect">
            <a:avLst/>
          </a:prstGeom>
        </p:spPr>
        <p:txBody>
          <a:bodyPr lIns="0" tIns="5002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39" b="0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52700" y="9055100"/>
            <a:ext cx="8077200" cy="9144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사용되지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않는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결과나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고정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때문에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Vivado가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일부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회로를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제거하여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정확한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전력·Fmax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비교가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어려웠다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52700" y="7188200"/>
            <a:ext cx="8623300" cy="9144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1. 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코어만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Top으로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설정하면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입력과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출력이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고정되거나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실제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핀에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직접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연결되어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입출력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핀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수가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지나치게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66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많아진다</a:t>
            </a:r>
            <a:r>
              <a:rPr lang="en-US" sz="2666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91100" y="5207000"/>
            <a:ext cx="3759200" cy="698500"/>
          </a:xfrm>
          <a:prstGeom prst="rect">
            <a:avLst/>
          </a:prstGeom>
        </p:spPr>
        <p:txBody>
          <a:bodyPr lIns="0" tIns="5002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39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문제</a:t>
            </a:r>
            <a:r>
              <a:rPr lang="en-US" sz="6400" b="0" i="0" u="none" strike="noStrike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400" b="0" i="0" u="none" strike="noStrike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해결</a:t>
            </a:r>
            <a:endParaRPr lang="en-US" sz="6400" b="0" i="0" u="none" strike="noStrike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506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5066" b="0" i="0" u="none" strike="noStrike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fpga_top_bram(Verilog)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3810000"/>
            <a:ext cx="7137400" cy="4279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474200" y="4102100"/>
            <a:ext cx="8978900" cy="336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wide_ram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 : matrix A,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B의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위한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내부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메모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module(BRAM)</a:t>
            </a: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we(write enable) :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쓰기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신호가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1일때만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가능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따라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addr의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크기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지정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din :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입력할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(쓸) data</a:t>
            </a: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dout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꺼내온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읽어온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data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8369300"/>
            <a:ext cx="7061200" cy="3949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474200" y="8648700"/>
            <a:ext cx="89789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배열을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선언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후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INIT_FILE에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있는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hex값을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mem배열에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대입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fpga_top_bram(Verilog)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3924300"/>
            <a:ext cx="9258300" cy="2603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1671300" y="4165600"/>
            <a:ext cx="89789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SW[15]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버튼을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주소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aaddr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)을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선택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BRAM에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6858000"/>
            <a:ext cx="8115300" cy="4660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493500" y="7899400"/>
            <a:ext cx="121793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수행하는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module인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matmul_top_ws에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연결한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후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결과값을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끝나는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순간에서만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저장하기위해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done &amp; ~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done_d을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사용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끝나면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1로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유지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끝나는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그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순간에는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done_d가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0이므로 이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상황에서만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fpga_top_bram(Verilog)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3695700"/>
            <a:ext cx="6667500" cy="3060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702800" y="4216400"/>
            <a:ext cx="89789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출력하고자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원소를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SW[3:0]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버튼을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조합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한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요소의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AW이므로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edix와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같은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경우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AW부터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AW만큼의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길이에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해당하는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csel로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복사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6858000"/>
            <a:ext cx="6616700" cy="5334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702800" y="6858000"/>
            <a:ext cx="10947400" cy="448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2's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보수를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변경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후 FPGA 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board상에서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7-seg로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표시하기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위해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각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자리수를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(각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자리수를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구하기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위한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너무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많은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쓰이는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것을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막기위해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3자리만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표시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백의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자릿수가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0이면 7-seg로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출력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</a:t>
            </a: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음수라면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4번째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자릿수에</a:t>
            </a:r>
            <a:r>
              <a:rPr lang="en-US" sz="2101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101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출력</a:t>
            </a:r>
            <a:endParaRPr lang="en-US" sz="2101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5080000"/>
            <a:ext cx="5156200" cy="5626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600" y="5080000"/>
            <a:ext cx="5156200" cy="5626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0" y="5080000"/>
            <a:ext cx="5156200" cy="5626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0" y="5080000"/>
            <a:ext cx="5156200" cy="5626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6375400"/>
            <a:ext cx="4203700" cy="952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981200" y="736600"/>
            <a:ext cx="3949700" cy="1223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6375400"/>
            <a:ext cx="4203700" cy="952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708400" y="736600"/>
            <a:ext cx="11404600" cy="1223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4600" y="6375400"/>
            <a:ext cx="4508500" cy="952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865100" y="6692900"/>
            <a:ext cx="41275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6100" y="6375400"/>
            <a:ext cx="4203700" cy="952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59200" y="304800"/>
            <a:ext cx="33362900" cy="130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389600" y="7429500"/>
            <a:ext cx="4191000" cy="316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생성된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A, B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입력을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matmul_top_ws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코어에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전달</a:t>
            </a:r>
            <a:endParaRPr lang="en-US" sz="2801" b="0" i="0" u="none" strike="noStrike" spc="-100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코어의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결과와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done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신호를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받아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출력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및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다음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연산에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사용</a:t>
            </a:r>
            <a:endParaRPr lang="en-US" sz="2801" b="0" i="0" u="none" strike="noStrike" spc="-100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8326100" y="6591300"/>
            <a:ext cx="42164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전체 테스트 결과 출력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0627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11100" y="7620000"/>
            <a:ext cx="4724400" cy="262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Reset, Start, Done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대기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다음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준비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과정을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상태별로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제어</a:t>
            </a:r>
            <a:endParaRPr lang="en-US" sz="2801" b="0" i="0" u="none" strike="noStrike" spc="-100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완료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후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입력을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갱신하고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다시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실행</a:t>
            </a:r>
            <a:endParaRPr lang="en-US" sz="2801" b="0" i="0" u="none" strike="noStrike" spc="-100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750800" y="6591300"/>
            <a:ext cx="4356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하드웨어 연산 실행 및 비교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509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24700" y="7696200"/>
            <a:ext cx="46990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512비트의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중 각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원소의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하위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8비트를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XOR함</a:t>
            </a:r>
            <a:endParaRPr lang="en-US" sz="2801" b="0" i="0" u="none" strike="noStrike" spc="-100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최종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8비트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값을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LED에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출력해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신호를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외부로</a:t>
            </a:r>
            <a:r>
              <a:rPr lang="en-US" sz="2801" b="0" i="0" u="none" strike="noStrike" spc="-100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1" b="0" i="0" u="none" strike="noStrike" spc="-100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전달</a:t>
            </a:r>
            <a:endParaRPr lang="en-US" sz="2801" b="0" i="0" u="none" strike="noStrike" spc="-100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315200" y="6591300"/>
            <a:ext cx="42164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</a:t>
            </a:r>
            <a:r>
              <a:rPr lang="en-US" sz="2872" b="1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및 </a:t>
            </a:r>
            <a:r>
              <a:rPr lang="en-US" sz="2872" b="1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정답</a:t>
            </a:r>
            <a:r>
              <a:rPr lang="en-US" sz="2872" b="1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72" b="1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데이터</a:t>
            </a:r>
            <a:r>
              <a:rPr lang="en-US" sz="2872" b="1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72" b="1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로드</a:t>
            </a:r>
            <a:endParaRPr lang="en-US" sz="2872" b="1" i="0" u="none" strike="noStrike" cap="all" dirty="0">
              <a:solidFill>
                <a:srgbClr val="3737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0391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 dirty="0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17700" y="7696200"/>
            <a:ext cx="43815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8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LFSR를 이용해 매 연산마다 새로운 A, B 행렬 값을 생성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8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 변화로 회로 토글을 유도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41500" y="6591300"/>
            <a:ext cx="42164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LFSR 기반 입력 생성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781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73400" y="2032000"/>
            <a:ext cx="185293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power_bench_wrapper.v</a:t>
            </a:r>
            <a:r>
              <a:rPr lang="en-US" sz="6400" b="0" i="0" u="none" strike="noStrike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400" b="0" i="0" u="none" strike="noStrike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코드구조</a:t>
            </a:r>
            <a:r>
              <a:rPr lang="en-US" sz="6400" b="0" i="0" u="none" strike="noStrike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2235200"/>
            <a:ext cx="9232900" cy="4889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153900" y="5156200"/>
            <a:ext cx="8077200" cy="1435100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LFSR의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일부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비트와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원소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번호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gi를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XOR하여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4×4 A, B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행렬의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16개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입력값을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자동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생성한다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
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연산이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끝날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때마다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LFSR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값이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바뀌어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다음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행렬곱에서는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새로운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입력값이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사용된다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9300" y="5359400"/>
            <a:ext cx="355600" cy="1041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150600" y="5562600"/>
            <a:ext cx="6350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5800" y="8229600"/>
            <a:ext cx="9931400" cy="3721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906500" y="9182100"/>
            <a:ext cx="8077200" cy="1778000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결과를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XOR하여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8비트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값으로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줄이고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LED에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연결한다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
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이를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통해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Vivado가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미사용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회로로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판단해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로직을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제거하거나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단순화하는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것을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54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방지한다</a:t>
            </a:r>
            <a:r>
              <a:rPr lang="en-US" sz="2254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8700" y="8470900"/>
            <a:ext cx="1003300" cy="2895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849100" y="9029700"/>
            <a:ext cx="177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350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714500"/>
            <a:ext cx="7874000" cy="2146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254500"/>
            <a:ext cx="10299700" cy="3721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7848600"/>
            <a:ext cx="6946900" cy="3898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1861800" y="2425700"/>
            <a:ext cx="8826500" cy="1435100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FSM은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S_RST → S_GO → S_WAIT → S_NEXT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순서로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동작하며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코어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리셋부터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시작과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완료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대기까지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자동으로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제어한다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
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gap을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이용해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리셋을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여러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클럭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유지하고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start는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한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클럭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동안만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1로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만들어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계산을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시작한다</a:t>
            </a:r>
            <a:r>
              <a:rPr lang="en-US" sz="24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99500" y="9855201"/>
            <a:ext cx="8077200" cy="1892299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계산이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끝나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done이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0에서 1로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바뀌면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done &amp; ~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done_d로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완료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순간을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검출한다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
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이때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결과를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LED에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저장하고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LFSR을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갱신해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새로운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입력으로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다음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행렬곱을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반복한다</a:t>
            </a:r>
            <a:r>
              <a:rPr lang="en-US" sz="28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4900" y="2108200"/>
            <a:ext cx="711200" cy="2032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0452100" y="2489200"/>
            <a:ext cx="1244600" cy="1244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959600" y="10312400"/>
            <a:ext cx="12446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 Model code(Python)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3848100"/>
            <a:ext cx="9804400" cy="2705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500" y="3848100"/>
            <a:ext cx="5486400" cy="4597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5557500" y="8623300"/>
            <a:ext cx="2768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74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all_A.mem</a:t>
            </a:r>
            <a:r>
              <a:rPr lang="en-US" sz="2874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74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형식</a:t>
            </a:r>
            <a:endParaRPr lang="en-US" sz="2874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11683" y="7550150"/>
            <a:ext cx="11849100" cy="214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hex_list_to_matrix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 </a:t>
            </a:r>
          </a:p>
          <a:p>
            <a:pPr lvl="0" algn="l">
              <a:lnSpc>
                <a:spcPct val="116199"/>
              </a:lnSpc>
            </a:pPr>
            <a:endParaRPr lang="en-US" sz="2800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file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내의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16진수를 2's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보수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체계로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해석하여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변환</a:t>
            </a:r>
            <a:endParaRPr lang="en-US" sz="2800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800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변환한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dec_list를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곱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위해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4X4 matrix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형태로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변환</a:t>
            </a:r>
            <a:endParaRPr lang="en-US" sz="2800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 Model code(Python)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4445000"/>
            <a:ext cx="8788400" cy="4826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1633200" y="5257800"/>
            <a:ext cx="8801100" cy="2565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fa와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fb의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각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줄을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묶어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line_a와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line_b로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전달</a:t>
            </a: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Testcase의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번호를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구분하기위해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enumerate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사용</a:t>
            </a: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각각의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line을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.split()을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통해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list화하여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hex_list_to_matrix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function으로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전달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후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수행</a:t>
            </a: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Golden Model code(Python)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4419600"/>
            <a:ext cx="11341100" cy="1930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47800" y="8114748"/>
            <a:ext cx="10350500" cy="342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곱을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통해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얻은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matrix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C를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출력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후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파일에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저장하기위해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처리과정을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거침</a:t>
            </a: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16199"/>
              </a:lnSpc>
            </a:pP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C.flatten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: matrix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형태의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C를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일자로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늘려서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-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for문에서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val에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C의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각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원소가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들어감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-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0xFFFFFFFF : 32bit로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val을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잘라냄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- hex : 16진수로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변환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- [2:]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python에서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16진수로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변환시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생기는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0x를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잘라냄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- .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zfill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길이가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8자리가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안된다면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앞에서부터</a:t>
            </a:r>
            <a:r>
              <a:rPr lang="en-US" sz="2407" b="0" i="0" u="none" strike="noStrik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0으로 </a:t>
            </a:r>
            <a:r>
              <a:rPr lang="en-US" sz="2407" b="0" i="0" u="none" strike="noStrik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채움</a:t>
            </a:r>
            <a:endParaRPr lang="en-US" sz="2407" b="0" i="0" u="none" strike="noStrik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0" y="8572500"/>
            <a:ext cx="10871200" cy="2882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192000" y="11874500"/>
            <a:ext cx="49657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74" b="0" i="0" u="none" strike="noStrike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all_C_golden.mem 파일 형식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5080000"/>
            <a:ext cx="5156200" cy="5626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600" y="5080000"/>
            <a:ext cx="5156200" cy="5626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0" y="5080000"/>
            <a:ext cx="5156200" cy="5626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0" y="5080000"/>
            <a:ext cx="5156200" cy="5626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6375400"/>
            <a:ext cx="4203700" cy="952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981200" y="736600"/>
            <a:ext cx="3949700" cy="1223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6375400"/>
            <a:ext cx="4203700" cy="952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708400" y="736600"/>
            <a:ext cx="11404600" cy="1223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4600" y="6375400"/>
            <a:ext cx="4508500" cy="952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865100" y="6692900"/>
            <a:ext cx="41275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6100" y="6375400"/>
            <a:ext cx="4203700" cy="952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59200" y="304800"/>
            <a:ext cx="33362900" cy="130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389600" y="7696200"/>
            <a:ext cx="41910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15개의 테스트 케이스를 반복 수행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최종 PASS/FAIL 및 오류 개수를 출력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326100" y="6591300"/>
            <a:ext cx="42164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전체 테스트 결과 출력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0627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11100" y="7696200"/>
            <a:ext cx="4724400" cy="209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각 테스트 입력을 하드웨어에 전달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 결과를 Golden  결과와 원소별로 비교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50800" y="6591300"/>
            <a:ext cx="4356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하드웨어 연산 실행 및 비교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509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24700" y="7696200"/>
            <a:ext cx="4699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1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Python에서 계산 Golden 결과를 메모리 파일에서 불러옴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5200" y="6591300"/>
            <a:ext cx="42164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 및 정답 데이터 로드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391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17700" y="7696200"/>
            <a:ext cx="4178300" cy="148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8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클럭, 리셋, 시작 신호를 설정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8" b="0" i="0" u="none" strike="noStrike" spc="-10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 하드웨어 모듈을 연결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41500" y="6591300"/>
            <a:ext cx="42164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1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시뮬레이션 환경 설정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78100" y="5626100"/>
            <a:ext cx="2755900" cy="4572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85" b="0" i="0" u="none" strike="noStrike" cap="all">
                <a:solidFill>
                  <a:srgbClr val="90A4A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Step.01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889500" y="2082800"/>
            <a:ext cx="15798800" cy="1143000"/>
          </a:xfrm>
          <a:prstGeom prst="rect">
            <a:avLst/>
          </a:prstGeom>
        </p:spPr>
        <p:txBody>
          <a:bodyPr lIns="0" tIns="812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tb_golden_compare.v</a:t>
            </a:r>
            <a:r>
              <a:rPr lang="en-US" sz="6400" b="0" i="0" u="none" strike="noStrike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400" b="0" i="0" u="none" strike="noStrike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코드구조</a:t>
            </a:r>
            <a:r>
              <a:rPr lang="en-US" sz="6400" b="0" i="0" u="none" strike="noStrike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44700" y="21590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066" b="0" i="0" u="none" strike="noStrike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1663700"/>
            <a:ext cx="11480800" cy="4787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1663700"/>
            <a:ext cx="1092200" cy="3149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829800" y="2260600"/>
            <a:ext cx="1943100" cy="1943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2090400" y="2260600"/>
            <a:ext cx="7988300" cy="1828800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0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4×4 행렬곱 테스트를 위해 데이터 크기와 테스트 개수를 설정하고, 클럭·리셋·시작 신호를 선언한다.
또한 A·B 입력과 C 출력 신호를 정의하고 100MHz 클럭을 생성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6600" y="7493000"/>
            <a:ext cx="9118600" cy="417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0" y="7315200"/>
            <a:ext cx="1384300" cy="3987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709400" y="8089900"/>
            <a:ext cx="2451100" cy="24511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097000" y="8394700"/>
            <a:ext cx="7962900" cy="1828800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72" b="0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A·B 입력 행렬과 Python이 계산한 Golden 정답을 저장할 메모리 공간을 선언한다.
이후 $readmemh를 사용해 각 .mem 파일의 </a:t>
            </a:r>
          </a:p>
          <a:p>
            <a:pPr lvl="0" algn="ctr">
              <a:lnSpc>
                <a:spcPct val="99600"/>
              </a:lnSpc>
            </a:pPr>
            <a:r>
              <a:rPr lang="en-US" sz="2872" b="0" i="0" u="none" strike="noStrike" cap="all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데이터를 불러온다.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1574800"/>
            <a:ext cx="9880600" cy="414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6159500"/>
            <a:ext cx="12484100" cy="6134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830300" y="2590800"/>
            <a:ext cx="8115300" cy="1828800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mem에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저장된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c번째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A, B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행렬의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16개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원소를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순서대로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꺼낸다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
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꺼낸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원소를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하드웨어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신호인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a_flat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b_flat에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8비트씩 </a:t>
            </a:r>
            <a:r>
              <a:rPr lang="en-US" sz="3200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배치한다</a:t>
            </a:r>
            <a:r>
              <a:rPr lang="en-US" sz="3200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5900" y="2590800"/>
            <a:ext cx="660400" cy="1892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077700" y="2959100"/>
            <a:ext cx="1168400" cy="1168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195300" y="9537700"/>
            <a:ext cx="8077200" cy="1676400"/>
          </a:xfrm>
          <a:prstGeom prst="rect">
            <a:avLst/>
          </a:prstGeom>
        </p:spPr>
        <p:txBody>
          <a:bodyPr lIns="0" tIns="36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현재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테스트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케이스의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A·B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행렬을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넣고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리셋과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시작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신호를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통해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하드웨어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행렬곱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연산을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실행한다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
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연산이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끝나면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하드웨어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결과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16개를 Python Golden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값과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비교해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불일치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개수를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45" b="0" i="0" u="none" strike="noStrike" cap="all" dirty="0" err="1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계산한다</a:t>
            </a:r>
            <a:r>
              <a:rPr lang="en-US" sz="2645" b="0" i="0" u="none" strike="noStrike" cap="all" dirty="0">
                <a:solidFill>
                  <a:srgbClr val="3737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0" y="9474200"/>
            <a:ext cx="635000" cy="1816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1836400" y="9817100"/>
            <a:ext cx="11176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350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0" y="4508500"/>
            <a:ext cx="5334000" cy="567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0172700"/>
            <a:ext cx="50292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0" y="7721600"/>
            <a:ext cx="12750800" cy="246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7264400"/>
            <a:ext cx="2921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8331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93980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400" y="6083300"/>
            <a:ext cx="128016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1500" y="9144000"/>
            <a:ext cx="119634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1500" y="8064500"/>
            <a:ext cx="11963400" cy="50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1500" y="6997700"/>
            <a:ext cx="11963400" cy="50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4500" y="4711700"/>
            <a:ext cx="12014200" cy="1143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86100" y="5994400"/>
            <a:ext cx="4660900" cy="3276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8700" y="5334000"/>
            <a:ext cx="37084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4178300"/>
            <a:ext cx="14046200" cy="127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5410200"/>
            <a:ext cx="137033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6540500"/>
            <a:ext cx="14046200" cy="127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6600" y="7785100"/>
            <a:ext cx="136779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8801100"/>
            <a:ext cx="14046200" cy="1270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10033000"/>
            <a:ext cx="137033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1300" y="9131300"/>
            <a:ext cx="10896600" cy="609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1300" y="6870700"/>
            <a:ext cx="10896600" cy="609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14600" y="9105900"/>
            <a:ext cx="1206500" cy="660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4600" y="6845300"/>
            <a:ext cx="1206500" cy="660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51300" y="4508500"/>
            <a:ext cx="10896600" cy="609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4600" y="4483100"/>
            <a:ext cx="1206500" cy="660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6500" y="2082800"/>
            <a:ext cx="15557500" cy="1143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6300" y="2159000"/>
            <a:ext cx="927100" cy="901700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E5682EDC-6813-291D-8CDF-8DAD0E0E9C15}"/>
              </a:ext>
            </a:extLst>
          </p:cNvPr>
          <p:cNvGrpSpPr/>
          <p:nvPr/>
        </p:nvGrpSpPr>
        <p:grpSpPr>
          <a:xfrm>
            <a:off x="2019300" y="2120900"/>
            <a:ext cx="1065144" cy="977900"/>
            <a:chOff x="2019300" y="2120900"/>
            <a:chExt cx="1065144" cy="97790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33932E8-C906-B94B-7EB9-0A566D32D3AE}"/>
                </a:ext>
              </a:extLst>
            </p:cNvPr>
            <p:cNvSpPr/>
            <p:nvPr/>
          </p:nvSpPr>
          <p:spPr>
            <a:xfrm>
              <a:off x="2019300" y="2120900"/>
              <a:ext cx="990600" cy="977900"/>
            </a:xfrm>
            <a:prstGeom prst="rect">
              <a:avLst/>
            </a:prstGeom>
            <a:solidFill>
              <a:srgbClr val="B8C9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Picture 20">
              <a:extLst>
                <a:ext uri="{FF2B5EF4-FFF2-40B4-BE49-F238E27FC236}">
                  <a16:creationId xmlns:a16="http://schemas.microsoft.com/office/drawing/2014/main" id="{9C2CBB67-09A7-F825-51BC-20B2805DD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157344" y="2173356"/>
              <a:ext cx="927100" cy="901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4025900"/>
            <a:ext cx="9486900" cy="7797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4025900"/>
            <a:ext cx="10236200" cy="232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5500" y="7391400"/>
            <a:ext cx="9817100" cy="2641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11100" y="5168900"/>
            <a:ext cx="8991600" cy="622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52700" y="4584700"/>
            <a:ext cx="3708400" cy="431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6500" y="2082800"/>
            <a:ext cx="15557500" cy="1143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6300" y="2159000"/>
            <a:ext cx="9271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610100"/>
            <a:ext cx="11772900" cy="6108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7150100"/>
            <a:ext cx="6667500" cy="102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500" y="2082800"/>
            <a:ext cx="15557500" cy="1143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6300" y="2159000"/>
            <a:ext cx="927100" cy="901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10693400"/>
            <a:ext cx="66675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930400"/>
            <a:ext cx="20701000" cy="138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7300" y="12026900"/>
            <a:ext cx="9271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12026900"/>
            <a:ext cx="9271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500" y="2082800"/>
            <a:ext cx="15557500" cy="1143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300" y="2159000"/>
            <a:ext cx="927100" cy="901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8200" y="4787900"/>
            <a:ext cx="20167600" cy="73152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A040C8-1B6A-76BD-B493-292504AEAD3E}"/>
              </a:ext>
            </a:extLst>
          </p:cNvPr>
          <p:cNvSpPr/>
          <p:nvPr/>
        </p:nvSpPr>
        <p:spPr>
          <a:xfrm>
            <a:off x="2019300" y="2120900"/>
            <a:ext cx="990600" cy="977900"/>
          </a:xfrm>
          <a:prstGeom prst="rect">
            <a:avLst/>
          </a:prstGeom>
          <a:solidFill>
            <a:srgbClr val="B8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39">
            <a:extLst>
              <a:ext uri="{FF2B5EF4-FFF2-40B4-BE49-F238E27FC236}">
                <a16:creationId xmlns:a16="http://schemas.microsoft.com/office/drawing/2014/main" id="{382CDA61-D0ED-1B8C-BC97-67176CAC9440}"/>
              </a:ext>
            </a:extLst>
          </p:cNvPr>
          <p:cNvSpPr txBox="1"/>
          <p:nvPr/>
        </p:nvSpPr>
        <p:spPr>
          <a:xfrm>
            <a:off x="2044700" y="2057400"/>
            <a:ext cx="1117600" cy="901700"/>
          </a:xfrm>
          <a:prstGeom prst="rect">
            <a:avLst/>
          </a:prstGeom>
        </p:spPr>
        <p:txBody>
          <a:bodyPr lIns="0" tIns="6434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000" i="0" u="none" strike="noStrike" dirty="0">
                <a:solidFill>
                  <a:srgbClr val="FFFFFF"/>
                </a:solidFill>
                <a:latin typeface="Abadi" panose="020F0502020204030204" pitchFamily="34" charset="0"/>
                <a:ea typeface="paybooc ExtraBold"/>
                <a:cs typeface="paybooc ExtraBold"/>
              </a:rPr>
              <a:t>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660400"/>
            <a:ext cx="22529800" cy="1239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0" y="4508500"/>
            <a:ext cx="5334000" cy="567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10172700"/>
            <a:ext cx="50292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0" y="7721600"/>
            <a:ext cx="12750800" cy="246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7264400"/>
            <a:ext cx="2921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8331200"/>
            <a:ext cx="2921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8953500" y="9398000"/>
            <a:ext cx="292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400" y="6083300"/>
            <a:ext cx="128016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304800"/>
            <a:ext cx="2540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800" y="304800"/>
            <a:ext cx="2540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00" y="304800"/>
            <a:ext cx="2540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200" y="304800"/>
            <a:ext cx="2540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900" y="304800"/>
            <a:ext cx="2540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8100" y="304800"/>
            <a:ext cx="2540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6800" y="304800"/>
            <a:ext cx="254000" cy="825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5500" y="304800"/>
            <a:ext cx="2540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4200" y="304800"/>
            <a:ext cx="254000" cy="825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00" y="304800"/>
            <a:ext cx="254000" cy="82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1500" y="9144000"/>
            <a:ext cx="119634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1500" y="8064500"/>
            <a:ext cx="11963400" cy="50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1500" y="6997700"/>
            <a:ext cx="11963400" cy="50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4500" y="4711700"/>
            <a:ext cx="12014200" cy="1143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86100" y="5994400"/>
            <a:ext cx="4660900" cy="3276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8700" y="5334000"/>
            <a:ext cx="3708400" cy="43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1032</Words>
  <Application>Microsoft Office PowerPoint</Application>
  <PresentationFormat>사용자 지정</PresentationFormat>
  <Paragraphs>117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Arial</vt:lpstr>
      <vt:lpstr>Calibri</vt:lpstr>
      <vt:lpstr>Abadi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주형능</dc:creator>
  <cp:lastModifiedBy>jg ju</cp:lastModifiedBy>
  <cp:revision>10</cp:revision>
  <dcterms:created xsi:type="dcterms:W3CDTF">2006-08-16T00:00:00Z</dcterms:created>
  <dcterms:modified xsi:type="dcterms:W3CDTF">2026-07-12T13:06:51Z</dcterms:modified>
</cp:coreProperties>
</file>